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2" r:id="rId6"/>
    <p:sldId id="263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8" d="100"/>
          <a:sy n="68" d="100"/>
        </p:scale>
        <p:origin x="45" y="2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피드 p95 (ms)</c:v>
                </c:pt>
              </c:strCache>
            </c:strRef>
          </c:tx>
          <c:spPr>
            <a:solidFill>
              <a:srgbClr val="2E9E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91A-4415-9627-E5C1A49C303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91A-4415-9627-E5C1A49C303C}"/>
              </c:ext>
            </c:extLst>
          </c:dPt>
          <c:dPt>
            <c:idx val="2"/>
            <c:invertIfNegative val="0"/>
            <c:bubble3D val="0"/>
            <c:spPr>
              <a:solidFill>
                <a:srgbClr val="D4A0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91A-4415-9627-E5C1A49C303C}"/>
              </c:ext>
            </c:extLst>
          </c:dPt>
          <c:dPt>
            <c:idx val="3"/>
            <c:invertIfNegative val="0"/>
            <c:bubble3D val="0"/>
            <c:spPr>
              <a:solidFill>
                <a:srgbClr val="E873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91A-4415-9627-E5C1A49C303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91A-4415-9627-E5C1A49C30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9404C"/>
                    </a:solidFill>
                    <a:latin typeface="맑은 고딕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5명</c:v>
                </c:pt>
                <c:pt idx="1">
                  <c:v>30명</c:v>
                </c:pt>
                <c:pt idx="2">
                  <c:v>50명</c:v>
                </c:pt>
                <c:pt idx="3">
                  <c:v>100명</c:v>
                </c:pt>
                <c:pt idx="4">
                  <c:v>100명 (이미지 제외)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373</c:v>
                </c:pt>
                <c:pt idx="1">
                  <c:v>409</c:v>
                </c:pt>
                <c:pt idx="2">
                  <c:v>1890</c:v>
                </c:pt>
                <c:pt idx="3">
                  <c:v>3970</c:v>
                </c:pt>
                <c:pt idx="4">
                  <c:v>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891A-4415-9627-E5C1A49C30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9404C"/>
                </a:solidFill>
                <a:latin typeface="맑은 고딕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400"/>
        </c:scaling>
        <c:delete val="0"/>
        <c:axPos val="l"/>
        <c:majorGridlines>
          <c:spPr>
            <a:ln w="12700" cap="flat">
              <a:solidFill>
                <a:srgbClr val="EDF0F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B939F"/>
                </a:solidFill>
                <a:latin typeface="맑은 고딕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333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k6로 배포 환경에 부하를 걸어 측정한 결과입니다. 핵심은 서버가 아니라 이미지 전송이 병목이라는 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사용자 경로를 그대로 태우기 위해 서버가 아니라 로컬 PC에서 배포 도메인을 향해 실행했습니다.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한도를 껐다는 지적이 나올 수 있는데, 부하 수준 자체가 실제 한도의 40%라 실사용에서도 걸리지 않는 수준입니다.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포화의 신호는 응답시간이 아니라 처리량입니다. 사용자를 3.3배 늘렸는데 처리량이 2.2배면 소화를 못 하고 있는 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가설을 세우고 변수를 하나만 제거해서 확인한 결과입니다.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한계를 알고, 원인을 특정했고, 해결책도 있다는 것이 이 측정의 결론입니다.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87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TEST REPORT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7830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부하테스트 결과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9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접속 100명까지 실패 0건 · 병목은 이미지 전송 대역폭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85800" y="39776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32830"/>
          </a:solidFill>
          <a:ln/>
        </p:spPr>
      </p:sp>
      <p:sp>
        <p:nvSpPr>
          <p:cNvPr id="6" name="Text 4"/>
          <p:cNvSpPr/>
          <p:nvPr/>
        </p:nvSpPr>
        <p:spPr>
          <a:xfrm>
            <a:off x="941832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100명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941832" y="4773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접속 검증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3280" y="39776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32830"/>
          </a:solidFill>
          <a:ln/>
        </p:spPr>
      </p:sp>
      <p:sp>
        <p:nvSpPr>
          <p:cNvPr id="9" name="Text 7"/>
          <p:cNvSpPr/>
          <p:nvPr/>
        </p:nvSpPr>
        <p:spPr>
          <a:xfrm>
            <a:off x="3639312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E9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0건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3639312" y="4773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실패 · 타임아웃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39776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32830"/>
          </a:solidFill>
          <a:ln/>
        </p:spPr>
      </p:sp>
      <p:sp>
        <p:nvSpPr>
          <p:cNvPr id="12" name="Text 10"/>
          <p:cNvSpPr/>
          <p:nvPr/>
        </p:nvSpPr>
        <p:spPr>
          <a:xfrm>
            <a:off x="6336792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339ms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336792" y="4773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p95 응답 (API)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778240" y="3977640"/>
            <a:ext cx="2468880" cy="1371600"/>
          </a:xfrm>
          <a:prstGeom prst="roundRect">
            <a:avLst>
              <a:gd name="adj" fmla="val 5333"/>
            </a:avLst>
          </a:prstGeom>
          <a:solidFill>
            <a:srgbClr val="232830"/>
          </a:solidFill>
          <a:ln/>
        </p:spPr>
      </p:sp>
      <p:sp>
        <p:nvSpPr>
          <p:cNvPr id="15" name="Text 13"/>
          <p:cNvSpPr/>
          <p:nvPr/>
        </p:nvSpPr>
        <p:spPr>
          <a:xfrm>
            <a:off x="9034272" y="420624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1% 미만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034272" y="477316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CPU 사용률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" y="5989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starttoo · 2026-08-08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  측정 방법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측정했나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645920"/>
            <a:ext cx="384048" cy="384048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52728" y="16002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252728" y="1883664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k6 (Grafana) — 가상 사용자 기반 부하 도구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395728"/>
            <a:ext cx="384048" cy="384048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395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52728" y="2350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실행 위치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52728" y="2633472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로컬 PC → 실제 배포 도메인. HTTPS·nginx 를 포함한 실사용 경로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145536"/>
            <a:ext cx="384048" cy="384048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1455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52728" y="30998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 패턴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52728" y="3383280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30초 증가 → 2분 유지 → 30초 감소 (회차당 3분)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895344"/>
            <a:ext cx="384048" cy="384048"/>
          </a:xfrm>
          <a:prstGeom prst="ellipse">
            <a:avLst/>
          </a:prstGeom>
          <a:solidFill>
            <a:srgbClr val="16191F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52728" y="384962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범위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52728" y="4133088"/>
            <a:ext cx="5577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읽기 전용. 운영 데이터 보호를 위해 쓰기는 제외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360920" y="146304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4F6F8"/>
          </a:solidFill>
          <a:ln/>
          <a:effectLst>
            <a:outerShdw blurRad="127000" dist="25400" dir="5400000" algn="bl" rotWithShape="0">
              <a:srgbClr val="9AA3B0">
                <a:alpha val="1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726680" y="1737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가상 사용자 한 명의 행동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726680" y="22677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001000" y="22128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 조회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26680" y="2834640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8001000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게시물 상세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26680" y="3401568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7" name="Text 25"/>
          <p:cNvSpPr/>
          <p:nvPr/>
        </p:nvSpPr>
        <p:spPr>
          <a:xfrm>
            <a:off x="8001000" y="33467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다운로드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726680" y="3968496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9" name="Text 27"/>
          <p:cNvSpPr/>
          <p:nvPr/>
        </p:nvSpPr>
        <p:spPr>
          <a:xfrm>
            <a:off x="8001000" y="3913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726680" y="4535424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8001000" y="4480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아티스트 목록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26680" y="49377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각 동작 사이 1~5초 대기 — 실제 사용자처럼 화면을 보는 시간을 넣었습니다.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  레이트 리밋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한도는 무엇을 기준으로 세는가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572768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27000" dist="25400" dir="5400000" algn="bl" rotWithShape="0">
              <a:srgbClr val="9AA3B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810512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1737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로그인한 사용자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1396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E9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계정 기준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54203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사람마다 따로 60건/분을 가집니다. 여러 명이 동시에 써도 서로 영향을 주지 않습니다.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09360" y="1572768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/>
          <a:effectLst>
            <a:outerShdw blurRad="127000" dist="25400" dir="5400000" algn="bl" rotWithShape="0">
              <a:srgbClr val="9AA3B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810512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1" name="Text 9"/>
          <p:cNvSpPr/>
          <p:nvPr/>
        </p:nvSpPr>
        <p:spPr>
          <a:xfrm>
            <a:off x="6903720" y="17373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비로그인 방문자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29400" y="2139696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01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IP 주소 기준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629400" y="2542032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네트워크를 쓰면 IP 하나를 공유합니다. 그 자리 모두가 합쳐서 60건/분을 나눠 씁니다.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657600"/>
            <a:ext cx="10789920" cy="1600200"/>
          </a:xfrm>
          <a:prstGeom prst="roundRect">
            <a:avLst>
              <a:gd name="adj" fmla="val 5714"/>
            </a:avLst>
          </a:prstGeom>
          <a:solidFill>
            <a:srgbClr val="16191F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58768"/>
            <a:ext cx="9966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해결 — 코드에 이미 준비된 기능이 있었습니다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97280" y="4224528"/>
            <a:ext cx="9966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“부하 시연·데모처럼 한도가 방해가 되는 계정을 설정으로 열어준다”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457200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B9C0C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레이트 리밋 필터의 면제 계정 주석. 이 계정으로 인증해 측정했고, 실패율은 46% → 0% 가 됐습니다.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85800" y="548640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 부하 자체는 정상 범위였습니다 — 사용자 1인당 분당 약 24건으로, 실제 한도 60건의 40% 수준입니다.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  측정 결과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사용자별 응답시간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72768"/>
          <a:ext cx="1078992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04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사용자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피드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상세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검색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이미지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처리량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실패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9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373ms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194ms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212ms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723ms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2.0/s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409ms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243ms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294ms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892ms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6191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11.6/s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1.89s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1.07s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1.25s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5.64s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16.5/s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100명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3.97s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2.03s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2.25s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E8734A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8.18s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9404C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25.8/s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2E9E6B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0</a:t>
                      </a:r>
                      <a:endParaRPr lang="en-US" sz="115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7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85800" y="370332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p95 기준 — 100명 중 95명이 이 시간 안에 응답받았다는 뜻. 평균보다 체감을 잘 반영합니다.</a:t>
            </a:r>
            <a:endParaRPr lang="en-US" sz="1050" dirty="0"/>
          </a:p>
        </p:txBody>
      </p:sp>
      <p:sp>
        <p:nvSpPr>
          <p:cNvPr id="4" name="Shape 3"/>
          <p:cNvSpPr/>
          <p:nvPr/>
        </p:nvSpPr>
        <p:spPr>
          <a:xfrm>
            <a:off x="685800" y="4160520"/>
            <a:ext cx="3322320" cy="123444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7" name="Shape 4"/>
          <p:cNvSpPr/>
          <p:nvPr/>
        </p:nvSpPr>
        <p:spPr>
          <a:xfrm>
            <a:off x="960120" y="4416552"/>
            <a:ext cx="146304" cy="146304"/>
          </a:xfrm>
          <a:prstGeom prst="ellipse">
            <a:avLst/>
          </a:prstGeom>
          <a:solidFill>
            <a:srgbClr val="2E9E6B"/>
          </a:solidFill>
          <a:ln/>
        </p:spPr>
      </p:sp>
      <p:sp>
        <p:nvSpPr>
          <p:cNvPr id="8" name="Text 5"/>
          <p:cNvSpPr/>
          <p:nvPr/>
        </p:nvSpPr>
        <p:spPr>
          <a:xfrm>
            <a:off x="1234440" y="4343400"/>
            <a:ext cx="268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30명까지 여유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4709160"/>
            <a:ext cx="2819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부하를 6배 올려도 응답은 10~40%만 증가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282440" y="4160520"/>
            <a:ext cx="3322320" cy="123444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1" name="Shape 8"/>
          <p:cNvSpPr/>
          <p:nvPr/>
        </p:nvSpPr>
        <p:spPr>
          <a:xfrm>
            <a:off x="4556760" y="4416552"/>
            <a:ext cx="146304" cy="146304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2" name="Text 9"/>
          <p:cNvSpPr/>
          <p:nvPr/>
        </p:nvSpPr>
        <p:spPr>
          <a:xfrm>
            <a:off x="4831080" y="4343400"/>
            <a:ext cx="268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50명부터 꺾임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556760" y="4709160"/>
            <a:ext cx="2819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전송이 지연되기 시작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879080" y="4160520"/>
            <a:ext cx="3322320" cy="123444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/>
        </p:spPr>
      </p:sp>
      <p:sp>
        <p:nvSpPr>
          <p:cNvPr id="15" name="Shape 12"/>
          <p:cNvSpPr/>
          <p:nvPr/>
        </p:nvSpPr>
        <p:spPr>
          <a:xfrm>
            <a:off x="8153400" y="4416552"/>
            <a:ext cx="146304" cy="14630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3"/>
          <p:cNvSpPr/>
          <p:nvPr/>
        </p:nvSpPr>
        <p:spPr>
          <a:xfrm>
            <a:off x="8427720" y="4343400"/>
            <a:ext cx="268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100명은 초과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53400" y="4709160"/>
            <a:ext cx="2819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 3.3배인데 처리량은 2.2배 — 포화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85800" y="559612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모든 구간에서 실패 0건 — 한계를 넘겨도 에러가 아니라 지연으로 나타났습니다.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384048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  결정적 실험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이미지만 빼고 100명을 다시 걸었다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85800" y="1554480"/>
          <a:ext cx="5943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554480"/>
            <a:ext cx="4572000" cy="3200400"/>
          </a:xfrm>
          <a:prstGeom prst="roundRect">
            <a:avLst>
              <a:gd name="adj" fmla="val 2857"/>
            </a:avLst>
          </a:prstGeom>
          <a:solidFill>
            <a:srgbClr val="F4F6F8"/>
          </a:solidFill>
          <a:ln/>
          <a:effectLst>
            <a:outerShdw blurRad="127000" dist="25400" dir="5400000" algn="bl" rotWithShape="0">
              <a:srgbClr val="9AA3B0">
                <a:alpha val="16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269480" y="17830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E9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12배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7269480" y="26060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응답시간 개선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26948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 포함  →  이미지 제외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269480" y="33649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피드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183880" y="3364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3.97s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144000" y="33649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9509760" y="336499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339ms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26948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상세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8183880" y="37673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2.03s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9144000" y="37673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509760" y="376732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194ms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7269480" y="41696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9404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검색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183880" y="41696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2.25s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9144000" y="416966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→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9509760" y="41696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9E6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275ms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685800" y="498348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191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이미지를 뺀 100명(339ms)이 이미지를 포함한 30명(409ms)보다 빠릅니다. 병목이 서버 처리가 아니라 이미지 전송이라는 것이 실험으로 분리 확인됐습니다.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9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07  결론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685800" y="89611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서버는 여유, 병목은 이미지 하나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280160" y="1810512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처리 능력은 동시 100명도 여유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2121408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이미지를 제외하면 100명에서도 p95 339ms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85800" y="2670048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670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2651760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병목은 이미지 전송 대역폭 하나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962656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부하 최고점에도 전 컨테이너 CPU 1% 미만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3511296"/>
            <a:ext cx="384048" cy="38404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3493008"/>
            <a:ext cx="6583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한계를 넘겨도 장애가 아니라 지연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03904"/>
            <a:ext cx="6583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5,000건 요청에서 에러·타임아웃 0건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818120" y="1783080"/>
            <a:ext cx="3657600" cy="2514600"/>
          </a:xfrm>
          <a:prstGeom prst="roundRect">
            <a:avLst>
              <a:gd name="adj" fmla="val 3636"/>
            </a:avLst>
          </a:prstGeom>
          <a:solidFill>
            <a:srgbClr val="232830"/>
          </a:solidFill>
          <a:ln/>
        </p:spPr>
      </p:sp>
      <p:sp>
        <p:nvSpPr>
          <p:cNvPr id="17" name="Text 15"/>
          <p:cNvSpPr/>
          <p:nvPr/>
        </p:nvSpPr>
        <p:spPr>
          <a:xfrm>
            <a:off x="818388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개선 방향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183880" y="233172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39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 업로드 원본을 그대로 전송 중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83880" y="2807208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0" name="Text 18"/>
          <p:cNvSpPr/>
          <p:nvPr/>
        </p:nvSpPr>
        <p:spPr>
          <a:xfrm>
            <a:off x="8430768" y="27432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 생성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9264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전송량 5~10배 감소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83880" y="3319272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430768" y="3255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WebP 변환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692640" y="32552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 30~50% 감소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183880" y="3831336"/>
            <a:ext cx="118872" cy="118872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8430768" y="3767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CDN 적용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692640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AA3B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대역폭 부담 제거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85800" y="4709160"/>
            <a:ext cx="10789920" cy="1234440"/>
          </a:xfrm>
          <a:prstGeom prst="roundRect">
            <a:avLst>
              <a:gd name="adj" fmla="val 7407"/>
            </a:avLst>
          </a:prstGeom>
          <a:solidFill>
            <a:srgbClr val="232830"/>
          </a:solidFill>
          <a:ln/>
        </p:spPr>
      </p:sp>
      <p:sp>
        <p:nvSpPr>
          <p:cNvPr id="29" name="Text 27"/>
          <p:cNvSpPr/>
          <p:nvPr/>
        </p:nvSpPr>
        <p:spPr>
          <a:xfrm>
            <a:off x="1097280" y="487375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34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요약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97280" y="5166360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접속 100명 / 3분간 5,944건 요청 / 실패 0건 · p95 피드 339ms, 상세 194ms, 검색 275ms · 처리량 31.5 req/s, 서버 CPU 1% 미만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638</Words>
  <Application>Microsoft Office PowerPoint</Application>
  <PresentationFormat>와이드스크린</PresentationFormat>
  <Paragraphs>141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부하테스트 결과</dc:title>
  <dc:subject>PptxGenJS Presentation</dc:subject>
  <dc:creator>starttoo</dc:creator>
  <cp:lastModifiedBy>SSAFY</cp:lastModifiedBy>
  <cp:revision>2</cp:revision>
  <dcterms:created xsi:type="dcterms:W3CDTF">2026-08-08T14:56:04Z</dcterms:created>
  <dcterms:modified xsi:type="dcterms:W3CDTF">2026-08-08T14:59:39Z</dcterms:modified>
</cp:coreProperties>
</file>